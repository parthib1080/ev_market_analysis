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raunces Extra Bold"/>
      <p:regular r:id="rId17"/>
    </p:embeddedFont>
    <p:embeddedFont>
      <p:font typeface="Fraunces Extra Bold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79032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EV Market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445916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comprehensive analysis of the global Electric Vehicle market using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SQL, Python, and Power BI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uncovering insights into sales trends, pricing, battery performance, and customer preferences across 2,000 EV models.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94915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Dataset at a Glance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93440"/>
            <a:ext cx="4049613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2,000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671414" y="166888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Rows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49610" y="1939379"/>
            <a:ext cx="40496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 models analyzed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4703" y="1093440"/>
            <a:ext cx="4049688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24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866581" y="166888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Columns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4703" y="1939379"/>
            <a:ext cx="4049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Features per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9610" y="2432372"/>
            <a:ext cx="4049613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20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671414" y="300781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Brands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9610" y="3278312"/>
            <a:ext cx="40496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Global manufacturers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4703" y="2432372"/>
            <a:ext cx="4049688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76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866581" y="300781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4703" y="3278312"/>
            <a:ext cx="4049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Unique EV models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610" y="372159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 Specifications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9610" y="4038674"/>
            <a:ext cx="3965674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Range, Battery Capacity, Top Speed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Charging Speed, Horsepower, Torque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Acceleration, Weight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3479" y="372159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Buying &amp; Features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33479" y="4038674"/>
            <a:ext cx="3965674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Brand, Model, Year, Variant, Price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Drive Type, Seating, Cargo, Safety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Autopilot Level, Country of Origin, Segment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94" y="375717"/>
            <a:ext cx="3293938" cy="4391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1901" y="388739"/>
            <a:ext cx="4769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Exploratory Data Analysis in Python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3901901" y="1426518"/>
            <a:ext cx="4769197" cy="1033090"/>
          </a:xfrm>
          <a:prstGeom prst="roundRect">
            <a:avLst>
              <a:gd name="adj" fmla="val 8851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82851" y="1426518"/>
            <a:ext cx="76200" cy="1033090"/>
          </a:xfrm>
          <a:prstGeom prst="roundRect">
            <a:avLst>
              <a:gd name="adj" fmla="val 159593"/>
            </a:avLst>
          </a:prstGeom>
          <a:solidFill>
            <a:srgbClr val="438951"/>
          </a:solidFill>
          <a:ln/>
        </p:spPr>
      </p:sp>
      <p:sp>
        <p:nvSpPr>
          <p:cNvPr id="7" name="Text 4"/>
          <p:cNvSpPr/>
          <p:nvPr/>
        </p:nvSpPr>
        <p:spPr>
          <a:xfrm>
            <a:off x="4113163" y="158062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3163" y="1868984"/>
            <a:ext cx="4403824" cy="436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Imported dataset via 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; used 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structure and summary stats.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901901" y="2588344"/>
            <a:ext cx="4769197" cy="1018803"/>
          </a:xfrm>
          <a:prstGeom prst="roundRect">
            <a:avLst>
              <a:gd name="adj" fmla="val 8975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82851" y="2588344"/>
            <a:ext cx="76200" cy="1018803"/>
          </a:xfrm>
          <a:prstGeom prst="roundRect">
            <a:avLst>
              <a:gd name="adj" fmla="val 159593"/>
            </a:avLst>
          </a:prstGeom>
          <a:solidFill>
            <a:srgbClr val="438951"/>
          </a:solidFill>
          <a:ln/>
        </p:spPr>
      </p:sp>
      <p:sp>
        <p:nvSpPr>
          <p:cNvPr id="11" name="Text 8"/>
          <p:cNvSpPr/>
          <p:nvPr/>
        </p:nvSpPr>
        <p:spPr>
          <a:xfrm>
            <a:off x="4113163" y="2742456"/>
            <a:ext cx="174597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3163" y="3030810"/>
            <a:ext cx="44038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sales_group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(by total annual units sold) and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performance_type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(from acceleration) columns.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01901" y="3735884"/>
            <a:ext cx="4769197" cy="1018803"/>
          </a:xfrm>
          <a:prstGeom prst="roundRect">
            <a:avLst>
              <a:gd name="adj" fmla="val 8975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82851" y="3735884"/>
            <a:ext cx="76200" cy="1018803"/>
          </a:xfrm>
          <a:prstGeom prst="roundRect">
            <a:avLst>
              <a:gd name="adj" fmla="val 159593"/>
            </a:avLst>
          </a:prstGeom>
          <a:solidFill>
            <a:srgbClr val="438951"/>
          </a:solidFill>
          <a:ln/>
        </p:spPr>
      </p:sp>
      <p:sp>
        <p:nvSpPr>
          <p:cNvPr id="15" name="Text 12"/>
          <p:cNvSpPr/>
          <p:nvPr/>
        </p:nvSpPr>
        <p:spPr>
          <a:xfrm>
            <a:off x="4113163" y="3889995"/>
            <a:ext cx="182418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3163" y="4178350"/>
            <a:ext cx="44038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Connected Python to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MySQL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loaded the cleaned DataFrame for SQL-based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35447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Units Sold by Brand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Tesla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dominates with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101M+ units sold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nearly double BYD and Volkswagen.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733377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Chinese brands (BYD) and Korean brands (Hyundai, Kia) represent strong competition in volume.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331455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European luxury brands (BMW, Mercedes) hold a smaller but significant share.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48751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Variant Demand Per Dollar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8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Best Value Segment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5220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 variant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delivers the highest demand per dollar at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888.86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despite having the lowest average price ($61,567).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6019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Higher-tier variants (Premium, Performance) generate substantial total sales but offer lower demand efficiency per dollar spent.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806699"/>
            <a:ext cx="3902943" cy="2308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7596"/>
            <a:ext cx="46024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Top 5 Best-Selling Models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54101"/>
            <a:ext cx="2622724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9958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Y — Tesla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302371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490,678 units · Rating: 4.51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854101"/>
            <a:ext cx="2622724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19958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S — Tesla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302371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248,485 units · Rating: 4.42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854101"/>
            <a:ext cx="2622724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19958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Cybertruck — Tesla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302371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187,262 units · Rating: 4.38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812703"/>
            <a:ext cx="4004965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2954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3 — Tesla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877" y="3260973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136,524 units · Rating: 4.42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812703"/>
            <a:ext cx="4004965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4784601" y="29544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GLE EV — Mercedes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4601" y="3260973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68,955 units · Rating: 4.39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3789015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Tesla occupies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of the top 5 spots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with the GLE EV as the only non-Tesla entry.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0071"/>
            <a:ext cx="662374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Battery Capacity &amp; Country of Origin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07418"/>
            <a:ext cx="19523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Sales by Battery Band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88344"/>
            <a:ext cx="3902943" cy="23083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607418"/>
            <a:ext cx="35630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Country of Origin — Avg Price vs. Range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97063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leads in total sales (110M units) with avg price $82,542 and range 259 mi.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2551807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Germany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commands the highest avg price ($93,538) but lowest price-per-mile efficiency.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313298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China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offers the best price-per-mile ratio (239.07) with 51M units sold.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629237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Body Type &amp; Market Segment Sales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88988"/>
            <a:ext cx="18628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15220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Premium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leads with 87M units, followed by Mid-range (83M) and Luxury (66M). Budget holds the smallest share at 23M.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96019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Trucks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dominate body types with 58.5M units — the strongest single category.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2517"/>
            <a:ext cx="5838899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Power BI Dashboard — Key Metrics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87189"/>
            <a:ext cx="4039344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259M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1660178" y="167409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Total Units Sold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647233" y="1087189"/>
            <a:ext cx="4039419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$78.9K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5850136" y="167409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Avg EV Price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349" y="2184499"/>
            <a:ext cx="4039344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262</a:t>
            </a:r>
            <a:endParaRPr lang="en-US" sz="3350" dirty="0"/>
          </a:p>
        </p:txBody>
      </p:sp>
      <p:sp>
        <p:nvSpPr>
          <p:cNvPr id="8" name="Text 6"/>
          <p:cNvSpPr/>
          <p:nvPr/>
        </p:nvSpPr>
        <p:spPr>
          <a:xfrm>
            <a:off x="1660178" y="277140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Avg Range (mi)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47233" y="2184499"/>
            <a:ext cx="4039419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3.57</a:t>
            </a:r>
            <a:endParaRPr lang="en-US" sz="3350" dirty="0"/>
          </a:p>
        </p:txBody>
      </p:sp>
      <p:sp>
        <p:nvSpPr>
          <p:cNvPr id="10" name="Text 8"/>
          <p:cNvSpPr/>
          <p:nvPr/>
        </p:nvSpPr>
        <p:spPr>
          <a:xfrm>
            <a:off x="5787405" y="2771403"/>
            <a:ext cx="175907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Avg Customer Rating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349" y="3231505"/>
            <a:ext cx="197532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Top Companies by Sales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349" y="3556099"/>
            <a:ext cx="3955256" cy="1172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Tesla — $9.43B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Volkswagen — $3.27B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BYD — $3.02B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Kia — $1.08B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Hyundai — $926B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6157" y="3231505"/>
            <a:ext cx="208337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Models by Sales Category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36157" y="3556099"/>
            <a:ext cx="3955256" cy="1172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Popular — 854 models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Unpopular — 549 models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Sold — 356 models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Best Seller — 93 models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Top Selling — 88 models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59873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1701701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5816" y="1697310"/>
            <a:ext cx="35693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Prioritize Trucks, Hatchbacks &amp; Sedans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385816" y="2003822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body types lead in unit sales — focus R&amp;D and marketing investment accordingly.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745358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5816" y="2740968"/>
            <a:ext cx="26276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Leverage US Market Strength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385816" y="3047479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US-origin vehicles generate the highest sales volume (110M+ units) — deepen US brand presence.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8250" y="3789015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85816" y="3784625"/>
            <a:ext cx="3053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Balance Base &amp; Premium Variants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385816" y="4091136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 variants offer the best demand-per-dollar, but Premium variants drive higher total revenue — maintain both tiers.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2026-05-13T19:19:02Z</dcterms:created>
  <dcterms:modified xsi:type="dcterms:W3CDTF">2026-05-13T19:19:02Z</dcterms:modified>
</cp:coreProperties>
</file>